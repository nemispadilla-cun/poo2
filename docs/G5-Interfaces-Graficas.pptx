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F0A500"/>
                </a:solidFill>
                <a:latin typeface="Calibri"/>
              </a:rPr>
              <a:t>TEMÁTICA 5 · G5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Calibri"/>
              </a:rPr>
              <a:t>Interfaces Gráficas con Orientación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ADCFC"/>
                </a:solidFill>
                <a:latin typeface="Calibri"/>
              </a:rPr>
              <a:t>Eventos · Componentes · Layouts · MVC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60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A9B4C4"/>
                </a:solidFill>
                <a:latin typeface="Calibri"/>
              </a:rPr>
              <a:t>Programación Orientada a Objetos II (INGS0806) · Ingeniería de Sistemas · CUN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0A500"/>
                </a:solidFill>
                <a:latin typeface="Calibri"/>
              </a:rPr>
              <a:t>Del cajero automático a la caja de Tostao'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817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A9B4C4"/>
                </a:solidFill>
                <a:latin typeface="Calibri"/>
              </a:rPr>
              <a:t>Con ejemplos ejecutables del proyecto POO-Fundamentos-NET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914400"/>
            <a:ext cx="3154680" cy="3291840"/>
          </a:xfrm>
          <a:prstGeom prst="roundRect">
            <a:avLst>
              <a:gd name="adj" fmla="val 289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88152" y="1078992"/>
            <a:ext cx="2825496" cy="3028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En consola, el programa manda.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En una GUI, manda el usuario.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var pagar = new Button();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pagar.Text = "Pagar";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pagar.Click += (s, e) =&gt;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pedido.Pagar("Nequi");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Nadie llama a la lambda: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la dispara el clic.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Ruta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Cinco paradas: de la consola a una ventana con arquitectura profesional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7824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" y="1881835"/>
            <a:ext cx="351129" cy="3511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El usuario toma el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542032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1881835"/>
            <a:ext cx="351129" cy="3511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58568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Anatomía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Componentes · contenedores · layouts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6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2-3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435" y="1881835"/>
            <a:ext cx="351129" cy="3511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22776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MVC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Modelo · Vista · Controlador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9824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870448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1-2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643" y="1881835"/>
            <a:ext cx="351129" cy="3511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86984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Casos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9552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Cajero · POS · SIGA-CUN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14032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534656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11-3_1B2A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851" y="1881835"/>
            <a:ext cx="351129" cy="3511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51192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Herramientas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Diseñador visual y buenas prácticas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B7A8C"/>
                </a:solidFill>
                <a:latin typeface="Calibri"/>
              </a:rPr>
              <a:t>El recurso usa Java Swing y NetBeans; en clase lo hacemos en C# con Windows Forms y Visual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De la consola a los 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Programación dirigida por eventos: el programa espera y reacciona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Consola: flujo secuencial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8046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804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B2A41"/>
                </a:solidFill>
                <a:latin typeface="Calibri"/>
              </a:rPr>
              <a:t>Pide un dato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53895" y="2103120"/>
            <a:ext cx="109729" cy="0"/>
          </a:xfrm>
          <a:prstGeom prst="line">
            <a:avLst/>
          </a:prstGeom>
          <a:ln w="1587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72768" y="1874519"/>
            <a:ext cx="8046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72768" y="1874519"/>
            <a:ext cx="804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B2A41"/>
                </a:solidFill>
                <a:latin typeface="Calibri"/>
              </a:rPr>
              <a:t>Procesa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86584" y="2103120"/>
            <a:ext cx="109728" cy="0"/>
          </a:xfrm>
          <a:prstGeom prst="line">
            <a:avLst/>
          </a:prstGeom>
          <a:ln w="1587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05456" y="1874519"/>
            <a:ext cx="8046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505456" y="1874519"/>
            <a:ext cx="804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B2A41"/>
                </a:solidFill>
                <a:latin typeface="Calibri"/>
              </a:rPr>
              <a:t>Muestra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9272" y="2103120"/>
            <a:ext cx="109728" cy="0"/>
          </a:xfrm>
          <a:prstGeom prst="line">
            <a:avLst/>
          </a:prstGeom>
          <a:ln w="1587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38144" y="1874519"/>
            <a:ext cx="8046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38144" y="1874519"/>
            <a:ext cx="804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B2A41"/>
                </a:solidFill>
                <a:latin typeface="Calibri"/>
              </a:rPr>
              <a:t>Termina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El programador decide el orden. El usuario solo responde lo que se le pregunta.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GUI: dirigida por eventos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783080"/>
            <a:ext cx="1554480" cy="594360"/>
          </a:xfrm>
          <a:prstGeom prst="roundRect">
            <a:avLst>
              <a:gd name="adj" fmla="val 46153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97880" y="178308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esperar evento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542032"/>
            <a:ext cx="1097280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92040" y="254203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C98700"/>
                </a:solidFill>
                <a:latin typeface="Courier New"/>
              </a:rPr>
              <a:t>clic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2542032"/>
            <a:ext cx="1097280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53912" y="254203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C98700"/>
                </a:solidFill>
                <a:latin typeface="Courier New"/>
              </a:rPr>
              <a:t>tecla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15783" y="2542032"/>
            <a:ext cx="1097280" cy="32918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15783" y="254203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C98700"/>
                </a:solidFill>
                <a:latin typeface="Courier New"/>
              </a:rPr>
              <a:t>resize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9260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El usuario decide el orden; el programa reacciona.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547872"/>
            <a:ext cx="8229600" cy="960120"/>
          </a:xfrm>
          <a:prstGeom prst="roundRect">
            <a:avLst>
              <a:gd name="adj" fmla="val 1142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0080" y="3749039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9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891686"/>
            <a:ext cx="263347" cy="26334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71600" y="3547872"/>
            <a:ext cx="7178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FFFFFF"/>
                </a:solidFill>
                <a:latin typeface="Calibri"/>
              </a:rPr>
              <a:t>Como en un restaurante de comida rápida: no preparan los platos en orden fijo al abrir; esperan los pedidos y reaccionan a cada uno (Joyanes Aguilar, 2020).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Anatomía de una GUI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Cada pieza es un objeto con atributos (propiedades) y comportamiento (métodos y eventos)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15184" cy="3246120"/>
          </a:xfrm>
          <a:prstGeom prst="roundRect">
            <a:avLst>
              <a:gd name="adj" fmla="val 4195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444752"/>
            <a:ext cx="566928" cy="5669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592153"/>
            <a:ext cx="272125" cy="272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1444752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Componentes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Los «átomos» con los que el usuario interactúa.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6B7A8C"/>
                </a:solidFill>
                <a:latin typeface="Calibri"/>
              </a:rPr>
              <a:t>C# WinForms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28163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6B7A8C"/>
                </a:solidFill>
                <a:latin typeface="Calibri"/>
              </a:rPr>
              <a:t>Java Swing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4495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2" y="30449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Button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7" y="3044952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JButton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9242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39242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7" y="3392424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JLabel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3989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373989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TextBox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7" y="3739896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JTextField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87368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" y="40873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CheckBox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408736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JCheckBox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4408" y="1280160"/>
            <a:ext cx="2615184" cy="3246120"/>
          </a:xfrm>
          <a:prstGeom prst="roundRect">
            <a:avLst>
              <a:gd name="adj" fmla="val 4195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447288" y="1444752"/>
            <a:ext cx="566928" cy="5669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2-4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89" y="1592153"/>
            <a:ext cx="272125" cy="2721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33087" y="1444752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Contenedores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21488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Albergan y agrupan otros componentes, incluso otros contenedores.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28163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6B7A8C"/>
                </a:solidFill>
                <a:latin typeface="Calibri"/>
              </a:rPr>
              <a:t>C# WinForms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28163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6B7A8C"/>
                </a:solidFill>
                <a:latin typeface="Calibri"/>
              </a:rPr>
              <a:t>Java Swing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47288" y="304495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20439" y="30449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7176" y="3044952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JFrame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7288" y="339242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20439" y="339242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6" y="3392424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JPanel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7288" y="373989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520439" y="373989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GroupBox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7176" y="3739896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TitledBorder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71616" y="1280160"/>
            <a:ext cx="2615184" cy="3246120"/>
          </a:xfrm>
          <a:prstGeom prst="roundRect">
            <a:avLst>
              <a:gd name="adj" fmla="val 4195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254496" y="1444752"/>
            <a:ext cx="566928" cy="5669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3-1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897" y="1592153"/>
            <a:ext cx="272125" cy="2721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940296" y="1444752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Layouts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4496" y="21488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Objetos invisibles que ubican y dimensionan a los hijos.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281635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6B7A8C"/>
                </a:solidFill>
                <a:latin typeface="Calibri"/>
              </a:rPr>
              <a:t>C# WinForms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44383" y="28163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6B7A8C"/>
                </a:solidFill>
                <a:latin typeface="Calibri"/>
              </a:rPr>
              <a:t>Java Swing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54496" y="3044952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327648" y="30449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FlowLayoutPanel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44383" y="3044952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FlowLayout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4496" y="3392424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327648" y="339242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TableLayoutPanel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44383" y="3392424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GridLayout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54496" y="3739896"/>
            <a:ext cx="224942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27648" y="373989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1B2A41"/>
                </a:solidFill>
                <a:latin typeface="Courier New"/>
              </a:rPr>
              <a:t>Dock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44383" y="3739896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0">
                <a:solidFill>
                  <a:srgbClr val="6B7A8C"/>
                </a:solidFill>
                <a:latin typeface="Courier New"/>
              </a:rPr>
              <a:t>BorderLayout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El trío dinámico: fuente, objeto evento y oyente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Modelo de delegación de eventos: la fuente no maneja el evento, se lo entrega al oyente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9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F0A500"/>
                </a:solidFill>
                <a:latin typeface="Calibri"/>
              </a:rPr>
              <a:t>Fuente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CADCFC"/>
                </a:solidFill>
                <a:latin typeface="Calibri"/>
              </a:rPr>
              <a:t>El componente que el usuario toca: un Button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1892807"/>
            <a:ext cx="603504" cy="0"/>
          </a:xfrm>
          <a:prstGeom prst="line">
            <a:avLst/>
          </a:prstGeom>
          <a:ln w="25400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51760" y="1554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crea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83280" y="1399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Objeto evento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09928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Qué pasó y quién lo originó: EventArgs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87568" y="1892807"/>
            <a:ext cx="603504" cy="0"/>
          </a:xfrm>
          <a:prstGeom prst="line">
            <a:avLst/>
          </a:prstGeom>
          <a:ln w="25400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77840" y="1554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entrega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1399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Oyente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09928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El método registrado que responde al evento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97480"/>
            <a:ext cx="4754880" cy="1783080"/>
          </a:xfrm>
          <a:prstGeom prst="roundRect">
            <a:avLst>
              <a:gd name="adj" fmla="val 512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2770632"/>
            <a:ext cx="4425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C# · registrar el oyente con +=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063240"/>
            <a:ext cx="4425696" cy="1318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var retiro = new Button { Text = "Retiro" };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retiro.Click += AlRetirar;        // registrar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void AlRetirar(object? sender, EventArgs e)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=&gt; cajero.Entregar(200_000);  // responder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2697480"/>
            <a:ext cx="3291840" cy="1783080"/>
          </a:xfrm>
          <a:prstGeom prst="roundRect">
            <a:avLst>
              <a:gd name="adj" fmla="val 6153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7840" y="27706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En Java Swing (recurso)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090672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addActionListener(oyente)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actionPerformed(ActionEvent e)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e.getSource() = sender en C#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En C# el evento es parte del lenguaje: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1 · El cajero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Cada tecla es una fuente; cada botón del menú activa solo a sus oyentes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434840" cy="320040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1056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F0A500"/>
                </a:solidFill>
                <a:latin typeface="Courier New"/>
              </a:rPr>
              <a:t>Demo05Gui.cs — sección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105655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8A94A6"/>
                </a:solidFill>
                <a:latin typeface="Courier New"/>
              </a:rPr>
              <a:t>// teclado: cada boton agrega su digito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>tecla.Click += (sender, e) =&gt;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FFCB6B"/>
                </a:solidFill>
                <a:latin typeface="Courier New"/>
              </a:rPr>
              <a:t>    clave.Texto += e.Texto;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>retiro.Click   += (s, e) =&gt; Entregar(200_000);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>consulta.Click += (s, e) =&gt; MostrarSaldo();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8A94A6"/>
                </a:solidFill>
                <a:latin typeface="Courier New"/>
              </a:rPr>
              <a:t>// un oyente para varias fuentes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C792EA"/>
                </a:solidFill>
                <a:latin typeface="Courier New"/>
              </a:rPr>
              <a:t>retiro.Click   += auditoria;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C792EA"/>
                </a:solidFill>
                <a:latin typeface="Courier New"/>
              </a:rPr>
              <a:t>consulta.Click += auditoria;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FFCB6B"/>
                </a:solidFill>
                <a:latin typeface="Courier New"/>
              </a:rPr>
              <a:t>retiro.Click   -= auditoria;   // se retira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801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39512" y="1353312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5   (sección 1, salida real)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9512" y="1645919"/>
            <a:ext cx="3282696" cy="1684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Clave en pantalla: |****    |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[Saldo]     Su saldo es $850.000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[Auditoria] clic en 'Consulta...'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[Retiro]    Entregando $200.000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[Auditoria] clic en 'Retiro'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[Saldo]     Su saldo es $650.000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356616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12080" y="3749039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26" y="3891686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97880" y="35661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La clave se guarda pero se muestra como ****: el campo encapsula su texto.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2 · El layout ubica, no el programador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Coordenadas fijas se rompen al cambiar el tamaño; un layout recalcula solo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931920" cy="1965960"/>
          </a:xfrm>
          <a:prstGeom prst="roundRect">
            <a:avLst>
              <a:gd name="adj" fmla="val 4651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602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F0A500"/>
                </a:solidFill>
                <a:latin typeface="Courier New"/>
              </a:rPr>
              <a:t>Componentes/LayoutRejilla.cs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602736" cy="1501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C792EA"/>
                </a:solidFill>
                <a:latin typeface="Courier New"/>
              </a:rPr>
              <a:t>public void Organizar(Panel contenedor)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>  int ancho = contenedor.Ancho / _columnas;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>  int alto  = contenedor.Alto  / _filas;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FFCB6B"/>
                </a:solidFill>
                <a:latin typeface="Courier New"/>
              </a:rPr>
              <a:t>  hijo.X = (i % _columnas) * ancho;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FFCB6B"/>
                </a:solidFill>
                <a:latin typeface="Courier New"/>
              </a:rPr>
              <a:t>  hijo.Y = (i / _columnas) * alto;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3756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4015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Dos patrones de G4 dentro de la GUI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5032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ILayout = Strategy: mismo panel, otra forma de ubicar.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Panel guarda componentes y paneles = Composite.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8016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36592" y="135331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5   (sección 2, salida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645919"/>
            <a:ext cx="3785615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rejilla 4x4 · 280x160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  7  ][  8  ][  9  ][  /  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  4  ][  5  ][  6  ][  *  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  1  ][  2  ][  3  ][  -  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  C  ][  0  ][  =  ][  +  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flujo · 360 px de ancho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Caja 1: [ Tinto ][ Pan de bono ]...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flujo · 220 px: se reacomoda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Caja 1: [ Tinto 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[ Pan de bono ][ Empanada 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[ Jugo de mora ][ Nequi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Librerías gráficas: Java y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Cada plataforma tiene una librería «clásica» y una «moderna»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1887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JAVA (RECURSO)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11887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C# / .NET (CLASE)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name="adj" fmla="val 17142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Clásica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173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Swing: JFrame, JButton. Robusta y con mucho software heredado.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4173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Windows Forms: Form, Button. Diseñador visual muy productivo.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30552"/>
            <a:ext cx="822960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2130552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Moderna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3055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JavaFX: propiedades, binding y estilos con CSS.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13055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WPF / .NET MAUI: XAML, binding y estilos; MAUI también en móvil.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43784"/>
            <a:ext cx="8229600" cy="640080"/>
          </a:xfrm>
          <a:prstGeom prst="roundRect">
            <a:avLst>
              <a:gd name="adj" fmla="val 17142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843784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843784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NetBeans con el diseñador Matisse.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843784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Visual Studio con el Diseñador de Windows Forms.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57015"/>
            <a:ext cx="822960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557015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Código del diseño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557015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initComponents() en gris, no editable.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557015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InitializeComponent() en FormX.Designer.cs.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1B2A41"/>
                </a:solidFill>
                <a:latin typeface="Calibri"/>
              </a:rPr>
              <a:t>Los conceptos no cambian: componente, contenedor, layout, evento y MVC son los mismos en todas.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Modelo-Vista-Controlador (MVC)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Separar la interfaz de la lógica para que el software pueda crecer sin colapsar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71600" cy="82296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1F2933"/>
                </a:solidFill>
                <a:latin typeface="Calibri"/>
              </a:rPr>
              <a:t>Usuario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47088" y="2240280"/>
            <a:ext cx="512064" cy="0"/>
          </a:xfrm>
          <a:prstGeom prst="line">
            <a:avLst/>
          </a:prstGeom>
          <a:ln w="25400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141732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1B2A41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77440" y="1490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F0A500"/>
                </a:solidFill>
                <a:latin typeface="Calibri"/>
              </a:rPr>
              <a:t>Vista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801368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CADCFC"/>
                </a:solidFill>
                <a:latin typeface="Calibri"/>
              </a:rPr>
              <a:t>Ventanas y botones. Muestra datos y avisa eventos.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24528" y="2011680"/>
            <a:ext cx="512064" cy="0"/>
          </a:xfrm>
          <a:prstGeom prst="line">
            <a:avLst/>
          </a:prstGeom>
          <a:ln w="25400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224528" y="2514600"/>
            <a:ext cx="512064" cy="0"/>
          </a:xfrm>
          <a:prstGeom prst="line">
            <a:avLst/>
          </a:prstGeom>
          <a:ln w="19050">
            <a:solidFill>
              <a:srgbClr val="6B7A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141732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0" y="1490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Controlador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801368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Traduce eventos en acciones sobre el modelo.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01968" y="2011680"/>
            <a:ext cx="420624" cy="0"/>
          </a:xfrm>
          <a:prstGeom prst="line">
            <a:avLst/>
          </a:prstGeom>
          <a:ln w="25400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601968" y="2514600"/>
            <a:ext cx="420624" cy="0"/>
          </a:xfrm>
          <a:prstGeom prst="line">
            <a:avLst/>
          </a:prstGeom>
          <a:ln w="19050">
            <a:solidFill>
              <a:srgbClr val="6B7A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40880" y="14173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0" y="1490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01368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Datos y reglas de negocio. No conoce la vista.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108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naranja: petición · gris: respuesta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0440"/>
            <a:ext cx="4023360" cy="960120"/>
          </a:xfrm>
          <a:prstGeom prst="roundRect">
            <a:avLst>
              <a:gd name="adj" fmla="val 1142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35844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2E8B57"/>
                </a:solidFill>
                <a:latin typeface="Calibri"/>
              </a:rPr>
              <a:t>Por qué vale la pena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58768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Equipos en paralelo: unos en la vista, otros en el modelo.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El modelo se prueba y se reutiliza sin la ventana.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520440"/>
            <a:ext cx="4023360" cy="960120"/>
          </a:xfrm>
          <a:prstGeom prst="roundRect">
            <a:avLst>
              <a:gd name="adj" fmla="val 1142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46320" y="35844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C0392B"/>
                </a:solidFill>
                <a:latin typeface="Calibri"/>
              </a:rPr>
              <a:t>Sin MVC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58768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La lógica vive en los Click: código espagueti.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Cambiar la pantalla obliga a reescribir las reglas.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3 · La calculadora con MVC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 vista avisa la tecla; el controlador decide; el modelo calcula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480560" cy="320040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151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F0A500"/>
                </a:solidFill>
                <a:latin typeface="Courier New"/>
              </a:rPr>
              <a:t>Mvc/ControladorCalculadora.cs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151376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C792EA"/>
                </a:solidFill>
                <a:latin typeface="Courier New"/>
              </a:rPr>
              <a:t>_vista.TeclaPresionada += Procesar;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void Procesar(string tecla)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try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  switch (tecla)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    case "C": _modelo.Limpiar(); break;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    case "=": _modelo.Calcular(); break;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    case "+" or "-" or "*" or "/":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        _modelo.AgregarOperador(tecla); break;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    default: _modelo.AgregarDigito(tecla); break;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FFCB6B"/>
                </a:solidFill>
                <a:latin typeface="Courier New"/>
              </a:rPr>
              <a:t>    _vista.MostrarPantalla(_modelo.Pantalla);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E6EDF3"/>
                </a:solidFill>
                <a:latin typeface="Courier New"/>
              </a:rPr>
              <a:t>  } catch (DivideByZeroException ex)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>
                <a:solidFill>
                  <a:srgbClr val="FF8A80"/>
                </a:solidFill>
                <a:latin typeface="Courier New"/>
              </a:rPr>
              <a:t>    _vista.MostrarError(ex.Message);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85231" y="1353312"/>
            <a:ext cx="3236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5   (sección 3, salida real)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1" y="1645919"/>
            <a:ext cx="3236976" cy="122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Teclas  : 1 2 + 3 0 =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Pantalla: 1 &gt; 12 &gt; 12 &gt; 3 &gt; 30 &gt; 42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Teclas  : C 9 / 0 =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Pantalla: 0 &gt; 9 &gt; 9 &gt; 0 &gt; ERROR: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  No se puede dividir entre cero.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1089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03520" y="31821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Tres archivos, tres responsabilidades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493008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CalculadoraLogica: ni Console ni Button.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ICalculadoraVista: el contrato de la pantalla.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ControladorCalculadora: el único que conoce a ambos.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La misma lógica en una ventana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Windows Forms: la única clase nueva es la vista; modelo y controlador no cambian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754880" cy="2331720"/>
          </a:xfrm>
          <a:prstGeom prst="roundRect">
            <a:avLst>
              <a:gd name="adj" fmla="val 3921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425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F0A500"/>
                </a:solidFill>
                <a:latin typeface="Courier New"/>
              </a:rPr>
              <a:t>CalculadoraWinForms/FormCalculadora.cs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425696" cy="1867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C792EA"/>
                </a:solidFill>
                <a:latin typeface="Courier New"/>
              </a:rPr>
              <a:t>public class FormCalculadora : Form, ICalculadoraVista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  foreach (char t in "789/456*123-C0=+")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    var boton = new Button { Text = t.ToString() };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FFCB6B"/>
                </a:solidFill>
                <a:latin typeface="Courier New"/>
              </a:rPr>
              <a:t>    boton.Click += AlPresionarBoton;   // 1 para 16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    rejilla.Controls.Add(boton);       // TableLayoutPanel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  void AlPresionarBoton(object? sender, EventArgs e)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FFCB6B"/>
                </a:solidFill>
                <a:latin typeface="Courier New"/>
              </a:rPr>
              <a:t>    =&gt; TeclaPresionada?.Invoke(((Button)sender!).Text);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03320"/>
            <a:ext cx="4754880" cy="777240"/>
          </a:xfrm>
          <a:prstGeom prst="roundRect">
            <a:avLst>
              <a:gd name="adj" fmla="val 11764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3776472"/>
            <a:ext cx="4425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F0A500"/>
                </a:solidFill>
                <a:latin typeface="Courier New"/>
              </a:rPr>
              <a:t>CalculadoraWinForms.csproj — enlaza, no copia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069080"/>
            <a:ext cx="4425696" cy="312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&lt;Compile Include="..\Mvc\CalculadoraLogica.cs" ... /&gt;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280160"/>
            <a:ext cx="3200400" cy="3200400"/>
          </a:xfrm>
          <a:prstGeom prst="roundRect">
            <a:avLst>
              <a:gd name="adj" fmla="val 342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0" y="1371600"/>
            <a:ext cx="203200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4160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1B2A41"/>
                </a:solidFill>
                <a:latin typeface="Courier New"/>
              </a:rPr>
              <a:t>ventana.bat · 1 2 + 3 0 = → 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Caso · Punto de venta en Tostao'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8:05 a.m. en Bogotá: un tinto y un pan de bono, pagados con Nequi en segundos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297680" cy="2103120"/>
          </a:xfrm>
          <a:prstGeom prst="roundRect">
            <a:avLst>
              <a:gd name="adj" fmla="val 434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968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F0A500"/>
                </a:solidFill>
                <a:latin typeface="Courier New"/>
              </a:rPr>
              <a:t>PuntoDeVenta/ControladorCaja.cs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968496" cy="1638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C792EA"/>
                </a:solidFill>
                <a:latin typeface="Courier New"/>
              </a:rPr>
              <a:t>public void ConectarProducto(Boton b, Producto p)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  _productoPorBoton[b] = p;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FFCB6B"/>
                </a:solidFill>
                <a:latin typeface="Courier New"/>
              </a:rPr>
              <a:t>  b.Click += AlElegirProducto;  // uno para todos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void AlElegirProducto(object? sender, ClicEventArgs e)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FFCB6B"/>
                </a:solidFill>
                <a:latin typeface="Courier New"/>
              </a:rPr>
              <a:t>  =&gt; _pedido.Agregar(_productoPorBoton[(Boton)sender!]);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4297680" cy="1005840"/>
          </a:xfrm>
          <a:prstGeom prst="roundRect">
            <a:avLst>
              <a:gd name="adj" fmla="val 9090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3547872"/>
            <a:ext cx="3968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F0A500"/>
                </a:solidFill>
                <a:latin typeface="Courier New"/>
              </a:rPr>
              <a:t>Dos vistas escuchan el mismo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840480"/>
            <a:ext cx="3968496" cy="541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new VistaTicket(pedido);      // la tabla del cajero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>
                <a:solidFill>
                  <a:srgbClr val="E6EDF3"/>
                </a:solidFill>
                <a:latin typeface="Courier New"/>
              </a:rPr>
              <a:t>new PantallaCliente(pedido);  // lo que ve el cliente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80160"/>
            <a:ext cx="3749039" cy="3200400"/>
          </a:xfrm>
          <a:prstGeom prst="roundRect">
            <a:avLst>
              <a:gd name="adj" fmla="val 2857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02352" y="1353312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5   (sección 4, salida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1645919"/>
            <a:ext cx="3419856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[Ticket]  1 Tinto = $2.500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[Cliente] Total a pagar: $2.500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[Ticket]  1 Tinto, 1 Pan de bono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    = $5.500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[Cliente] Total a pagar: $5.500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[Dialogo] Confirmar pago Nequi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      por $5.500? -&gt; Si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[Ticket]  ... PAGADO con Nequi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[Cliente] Gracias por su compra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Otro clic en Empanada: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  El pedido ya fue pagado.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Caso de estudio · SIGA-CUN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Gestión académica de escritorio para una sede regional con internet intermitente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C0392B"/>
                </a:solidFill>
                <a:latin typeface="Calibri"/>
              </a:rPr>
              <a:t>El desafío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2331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CRUD de estudiantes, docentes y asignaturas.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Matrícula con cupos y prerrequisitos.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100 % operativo sin internet.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2801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29000" y="1353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alibri"/>
              </a:rPr>
              <a:t>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64208"/>
            <a:ext cx="2331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Escritorio y no web: sigue matriculando si se cae internet.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MVC estricto: el modelo se podría reutilizar en una versión web.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801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0" y="1353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2E8B57"/>
                </a:solidFill>
                <a:latin typeface="Calibri"/>
              </a:rPr>
              <a:t>La arquitectura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64208"/>
            <a:ext cx="2331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Vista: VentanaMatricula.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Controlador: ControladorMatricula.</a:t>
            </a:r>
          </a:p>
          <a:p>
            <a:pPr algn="l" marL="228600" indent="-228600">
              <a:spcBef>
                <a:spcPts val="0"/>
              </a:spcBef>
              <a:spcAft>
                <a:spcPts val="2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Modelo: Estudiante, Asignatura y MatriculaDAO.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46120"/>
            <a:ext cx="2651760" cy="1234440"/>
          </a:xfrm>
          <a:prstGeom prst="roundRect">
            <a:avLst>
              <a:gd name="adj" fmla="val 888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11887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>
                <a:solidFill>
                  <a:srgbClr val="F0A500"/>
                </a:solidFill>
                <a:latin typeface="Calibri"/>
              </a:rPr>
              <a:t>40 %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91840"/>
            <a:ext cx="1234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menos tiempo por matrícula (de 15 a 9 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246120"/>
            <a:ext cx="2651760" cy="1234440"/>
          </a:xfrm>
          <a:prstGeom prst="roundRect">
            <a:avLst>
              <a:gd name="adj" fmla="val 888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83279" y="3291840"/>
            <a:ext cx="11887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>
                <a:solidFill>
                  <a:srgbClr val="F0A500"/>
                </a:solidFill>
                <a:latin typeface="Calibri"/>
              </a:rPr>
              <a:t>98 %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91840"/>
            <a:ext cx="1234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menos errores de inscripción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246120"/>
            <a:ext cx="2651760" cy="1234440"/>
          </a:xfrm>
          <a:prstGeom prst="roundRect">
            <a:avLst>
              <a:gd name="adj" fmla="val 888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72200" y="3291840"/>
            <a:ext cx="11887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>
                <a:solidFill>
                  <a:srgbClr val="F0A500"/>
                </a:solidFill>
                <a:latin typeface="Calibri"/>
              </a:rPr>
              <a:t>75 %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3291840"/>
            <a:ext cx="1234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FFFFFF"/>
                </a:solidFill>
                <a:latin typeface="Calibri"/>
              </a:rPr>
              <a:t>más satisfacción del personal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Herramientas · El Diseñador de Visual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El equivalente de Matisse en NetBeans: diseñas arrastrando y el IDE escribe el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94360" y="1435607"/>
            <a:ext cx="420624" cy="42062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3560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258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Cuadro de herramientas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Arrastra un Button, un TextBox o un DataGridView al formulario.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94360" y="2258568"/>
            <a:ext cx="420624" cy="42062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5856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4883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Ventana Propiedades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231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Cambia Text, Name, Font o Dock y el cambio se ve en tiempo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94360" y="3081528"/>
            <a:ext cx="420624" cy="42062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8152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718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Doble clic = evento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4612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Visual Studio crea el método button1_Click y lo registra con +=.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28016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10912" y="1353312"/>
            <a:ext cx="3511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Form1.Designer.cs — lo genera el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1645919"/>
            <a:ext cx="3511296" cy="1912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private void InitializeComponent()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btnPagar = new Button();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btnPagar.Text = "Pagar";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btnPagar.Location = new Point(12, 40);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btnPagar.Click += btnPagar_Click;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Controls.Add(btnPagar);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749039"/>
            <a:ext cx="3840480" cy="731520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983480" y="384048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2-5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26" y="3983126"/>
            <a:ext cx="263347" cy="2633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9280" y="3749039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No edites ese archivo a mano: el diseñador lo regenera.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alibri"/>
              </a:rPr>
              <a:t>Es crucial entender el código que se genera para poder depurarlo (Farrell, 2019).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Buenas prácticas · Separar la lógica del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 regla de oro: la vista solo maneja componentes; nunca reglas de negocio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434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F0A500"/>
                </a:solidFill>
                <a:latin typeface="Courier New"/>
              </a:rPr>
              <a:t>Así NO: la lógica dentro del evento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694176" cy="1638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E6EDF3"/>
                </a:solidFill>
                <a:latin typeface="Courier New"/>
              </a:rPr>
              <a:t>void btnIgual_Click(object s, EventArgs e)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FF8A80"/>
                </a:solidFill>
                <a:latin typeface="Courier New"/>
              </a:rPr>
              <a:t>  var partes = txtDisplay.Text.Split('+');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FF8A80"/>
                </a:solidFill>
                <a:latin typeface="Courier New"/>
              </a:rPr>
              <a:t>  int a = int.Parse(partes[0]);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FF8A80"/>
                </a:solidFill>
                <a:latin typeface="Courier New"/>
              </a:rPr>
              <a:t>  int b = int.Parse(partes[1]);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FF8A80"/>
                </a:solidFill>
                <a:latin typeface="Courier New"/>
              </a:rPr>
              <a:t>  txtDisplay.Text = (a + b).ToString();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280160"/>
            <a:ext cx="4023360" cy="2103120"/>
          </a:xfrm>
          <a:prstGeom prst="roundRect">
            <a:avLst>
              <a:gd name="adj" fmla="val 434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1" y="135331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F0A500"/>
                </a:solidFill>
                <a:latin typeface="Courier New"/>
              </a:rPr>
              <a:t>Así SÍ: la vista delega en el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1" y="1645919"/>
            <a:ext cx="3694176" cy="1638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E6EDF3"/>
                </a:solidFill>
                <a:latin typeface="Courier New"/>
              </a:rPr>
              <a:t>void btnIgual_Click(object s, EventArgs e)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C3E88D"/>
                </a:solidFill>
                <a:latin typeface="Courier New"/>
              </a:rPr>
              <a:t>  _modelo.Calcular();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C3E88D"/>
                </a:solidFill>
                <a:latin typeface="Courier New"/>
              </a:rPr>
              <a:t>  txtDisplay.Text = _modelo.Pantalla;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>
                <a:solidFill>
                  <a:srgbClr val="8A94A6"/>
                </a:solidFill>
                <a:latin typeface="Courier New"/>
              </a:rPr>
              <a:t>// CalculadoraLogica se prueba sin ventana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1142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0080" y="3721608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864254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3520440"/>
            <a:ext cx="7178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FFFFFF"/>
                </a:solidFill>
                <a:latin typeface="Calibri"/>
              </a:rPr>
              <a:t>Un poco más de código al inicio hace el programa mucho más fácil de probar, depurar y extender. Además, un error en «Transferencia» no tumba «Consulta de saldo».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Ejecútalo tú · proyecto POO-Fundamentos-NET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El módulo 5 se suma a G1-G4: demo de consola y una ventana real de Windows 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6666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0A500"/>
                </a:solidFill>
                <a:latin typeface="Courier New"/>
              </a:rPr>
              <a:t>Windows (Linux/macOS: los .sh equivalentes)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694176" cy="907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compilar.bat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ejecutar.bat 5        // Tematica 5 (G5)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FCB6B"/>
                </a:solidFill>
                <a:latin typeface="Courier New"/>
              </a:rPr>
              <a:t>ventana.bat           // la calculadora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ejecutar.bat todos    // G1 a G5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B2A41"/>
                </a:solidFill>
                <a:latin typeface="Courier New"/>
              </a:rPr>
              <a:t>Modulo05_GUI/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Componentes/  Boton, Panel, Ventana, layouts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Mvc/  CalculadoraLogica, ControladorCalculadora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PuntoDeVenta/  Pedido, VistaTicket, ControladorCaja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CalculadoraWinForms/  FormCalculadora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280160"/>
            <a:ext cx="3977639" cy="3200400"/>
          </a:xfrm>
          <a:prstGeom prst="roundRect">
            <a:avLst>
              <a:gd name="adj" fmla="val 342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605686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77840" y="1508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Taller en clase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03120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Calculadora: punto decimal y tecla ± en el modelo.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Layouts: crear LayoutBorde (norte, sur, centro).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POS: botón «Anular último» y conteo de tintos.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Diseñador: la ventana del cajero con CuentaBancaria.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11480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F0A500"/>
                </a:solidFill>
                <a:latin typeface="Calibri"/>
              </a:rPr>
              <a:t>Entrega: código + captura de la ventana funcionando.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Conclusiones y proyección profesional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422806"/>
            <a:ext cx="263347" cy="263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280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El usuario manda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556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En una GUI el programa espera eventos y reacciona: fuente, objeto evento y oyente.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66" y="1422806"/>
            <a:ext cx="263347" cy="2633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20" y="12801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Todo es un objeto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7556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Botones y ventanas usan herencia, encapsulamiento y polimorfismo, como cualquier clase.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-3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023006"/>
            <a:ext cx="263347" cy="2633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588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MVC separa y protege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558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La misma lógica sirvió para la consola y para Windows Forms sin cambiar una línea.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6974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846320" y="288036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1-2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6" y="3023006"/>
            <a:ext cx="263347" cy="2633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3212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Decisiones de tecnólogo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3558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SIGA-CUN: escritorio por la operación offline y MVC para poder crecer.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7939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F0A500"/>
                </a:solidFill>
                <a:latin typeface="Calibri"/>
              </a:rPr>
              <a:t>Para reflexionar: ¿qué industrias en Colombia seguirán dependiendo de aplicaciones de escritorio? ¿Cómo llevar simplicidad y retroalimentación al código de una ventana?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A9B4C4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A9B4C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Referencias (APA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Deitel, P. J., &amp; Deitel, H. M. (2012). Java: How to program. Prentice Hall.</a:t>
            </a:r>
          </a:p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Farrell, J. (2019). Java programming. Cengage Learning.</a:t>
            </a:r>
          </a:p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Joyanes Aguilar, L. (2020). Fundamentos de programación: Algoritmos, estructuras de datos y objetos. McGraw-Hill.</a:t>
            </a:r>
          </a:p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Larman, C. (2012). Applying UML and patterns. Prentice Hall.</a:t>
            </a:r>
          </a:p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Pressman, R. S., &amp; Maxim, B. R. (2021). Software engineering: A practitioner's approach. McGraw-Hill Education.</a:t>
            </a:r>
          </a:p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Schildt, H. (2019). Java: The complete reference. McGraw-Hill Education.</a:t>
            </a:r>
          </a:p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Sharp, H., Preece, J., &amp; Rogers, Y. (2019). Interaction design: Beyond human-computer interaction. John Wiley &amp; Sons.</a:t>
            </a:r>
          </a:p>
          <a:p>
            <a:pPr algn="l"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950" b="0">
                <a:solidFill>
                  <a:srgbClr val="1F2933"/>
                </a:solidFill>
                <a:latin typeface="Calibri"/>
              </a:rPr>
              <a:t>Sommerville, I. (2011). Software engineering. Pearson.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14300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126480" y="13258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5-1_F0A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26" y="1468526"/>
            <a:ext cx="263347" cy="263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Material del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5740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Documento maestro G5: Desarrollo de Interfaces Gráficas con Orientación a Objetos (INGS0806).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Proyecto POO-Fundamentos-NET, módulo 5 y su README.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Tabla de equivalencias Swing → Windows Forms en el README del módulo.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5 · Interfaces gráficas · C# / .NET · CUN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